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 marchand ambulant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 marchand ambulant — 1/10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TSP sur 20 villes françaises</a:t>
            </a:r>
          </a:p>
          <a:p>
            <a:pPr>
              <a:spcAft>
                <a:spcPts val="1000"/>
              </a:spcAft>
              <a:defRPr sz="2000"/>
            </a:pPr>
            <a:r>
              <a:t>Christofides vs algorithme génétique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Modélisation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 marchand ambulant — 2/10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20 villes issues du CSV fourni</a:t>
            </a:r>
          </a:p>
          <a:p>
            <a:pPr>
              <a:spcAft>
                <a:spcPts val="1000"/>
              </a:spcAft>
              <a:defRPr sz="2000"/>
            </a:pPr>
            <a:r>
              <a:t>Graphe complet pondéré</a:t>
            </a:r>
          </a:p>
          <a:p>
            <a:pPr>
              <a:spcAft>
                <a:spcPts val="1000"/>
              </a:spcAft>
              <a:defRPr sz="2000"/>
            </a:pPr>
            <a:r>
              <a:t>Distance de Haversine</a:t>
            </a:r>
          </a:p>
          <a:p>
            <a:pPr>
              <a:spcAft>
                <a:spcPts val="1000"/>
              </a:spcAft>
              <a:defRPr sz="2000"/>
            </a:pPr>
            <a:r>
              <a:t>TSP métrique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Christofides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 marchand ambulant — 3/10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Prim → arbre couvrant minimal</a:t>
            </a:r>
          </a:p>
          <a:p>
            <a:pPr>
              <a:spcAft>
                <a:spcPts val="1000"/>
              </a:spcAft>
              <a:defRPr sz="2000"/>
            </a:pPr>
            <a:r>
              <a:t>Sommets de degré impair</a:t>
            </a:r>
          </a:p>
          <a:p>
            <a:pPr>
              <a:spcAft>
                <a:spcPts val="1000"/>
              </a:spcAft>
              <a:defRPr sz="2000"/>
            </a:pPr>
            <a:r>
              <a:t>Matching parfait minimum</a:t>
            </a:r>
          </a:p>
          <a:p>
            <a:pPr>
              <a:spcAft>
                <a:spcPts val="1000"/>
              </a:spcAft>
              <a:defRPr sz="2000"/>
            </a:pPr>
            <a:r>
              <a:t>Hierholzer + shortcut</a:t>
            </a:r>
          </a:p>
          <a:p>
            <a:pPr>
              <a:spcAft>
                <a:spcPts val="1000"/>
              </a:spcAft>
              <a:defRPr sz="2000"/>
            </a:pPr>
            <a:r>
              <a:t>Distance : 3445.60 km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Algorithme génétique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 marchand ambulant — 4/10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Individu = permutation des villes</a:t>
            </a:r>
          </a:p>
          <a:p>
            <a:pPr>
              <a:spcAft>
                <a:spcPts val="1000"/>
              </a:spcAft>
              <a:defRPr sz="2000"/>
            </a:pPr>
            <a:r>
              <a:t>Sélection par tournoi</a:t>
            </a:r>
          </a:p>
          <a:p>
            <a:pPr>
              <a:spcAft>
                <a:spcPts val="1000"/>
              </a:spcAft>
              <a:defRPr sz="2000"/>
            </a:pPr>
            <a:r>
              <a:t>Ordered Crossover (OX)</a:t>
            </a:r>
          </a:p>
          <a:p>
            <a:pPr>
              <a:spcAft>
                <a:spcPts val="1000"/>
              </a:spcAft>
              <a:defRPr sz="2000"/>
            </a:pPr>
            <a:r>
              <a:t>Mutation swap / inversion</a:t>
            </a:r>
          </a:p>
          <a:p>
            <a:pPr>
              <a:spcAft>
                <a:spcPts val="1000"/>
              </a:spcAft>
              <a:defRPr sz="2000"/>
            </a:pPr>
            <a:r>
              <a:t>Élitisme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Configuration retenue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 marchand ambulant — 5/10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Population : 160</a:t>
            </a:r>
          </a:p>
          <a:p>
            <a:pPr>
              <a:spcAft>
                <a:spcPts val="1000"/>
              </a:spcAft>
              <a:defRPr sz="2000"/>
            </a:pPr>
            <a:r>
              <a:t>Générations : 520</a:t>
            </a:r>
          </a:p>
          <a:p>
            <a:pPr>
              <a:spcAft>
                <a:spcPts val="1000"/>
              </a:spcAft>
              <a:defRPr sz="2000"/>
            </a:pPr>
            <a:r>
              <a:t>Tournoi : 5</a:t>
            </a:r>
          </a:p>
          <a:p>
            <a:pPr>
              <a:spcAft>
                <a:spcPts val="1000"/>
              </a:spcAft>
              <a:defRPr sz="2000"/>
            </a:pPr>
            <a:r>
              <a:t>Crossover : 95%</a:t>
            </a:r>
          </a:p>
          <a:p>
            <a:pPr>
              <a:spcAft>
                <a:spcPts val="1000"/>
              </a:spcAft>
              <a:defRPr sz="2000"/>
            </a:pPr>
            <a:r>
              <a:t>Mutation : 22%</a:t>
            </a:r>
          </a:p>
          <a:p>
            <a:pPr>
              <a:spcAft>
                <a:spcPts val="1000"/>
              </a:spcAft>
              <a:defRPr sz="2000"/>
            </a:pPr>
            <a:r>
              <a:t>Élite :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 marchand ambulant — 6/10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Christofides : 3445.60 km</a:t>
            </a:r>
          </a:p>
          <a:p>
            <a:pPr>
              <a:spcAft>
                <a:spcPts val="1000"/>
              </a:spcAft>
              <a:defRPr sz="2000"/>
            </a:pPr>
            <a:r>
              <a:t>Génétique : 3157.13 km</a:t>
            </a:r>
          </a:p>
          <a:p>
            <a:pPr>
              <a:spcAft>
                <a:spcPts val="1000"/>
              </a:spcAft>
              <a:defRPr sz="2000"/>
            </a:pPr>
            <a:r>
              <a:t>Gain : 288.48 km</a:t>
            </a:r>
          </a:p>
          <a:p>
            <a:pPr>
              <a:spcAft>
                <a:spcPts val="1000"/>
              </a:spcAft>
              <a:defRPr sz="2000"/>
            </a:pPr>
            <a:r>
              <a:t>Amélioration : 8.37%</a:t>
            </a:r>
          </a:p>
        </p:txBody>
      </p:sp>
      <p:pic>
        <p:nvPicPr>
          <p:cNvPr id="5" name="Picture 4" descr="comparaison_dis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029200" cy="3592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Analyse comparative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 marchand ambulant — 7/10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Christofides : rapide, déterministe, garantie ≤ 1,5× optimum</a:t>
            </a:r>
          </a:p>
          <a:p>
            <a:pPr>
              <a:spcAft>
                <a:spcPts val="1000"/>
              </a:spcAft>
              <a:defRPr sz="2000"/>
            </a:pPr>
            <a:r>
              <a:t>Génétique : meilleure distance observée, mais stochastique</a:t>
            </a:r>
          </a:p>
          <a:p>
            <a:pPr>
              <a:spcAft>
                <a:spcPts val="1000"/>
              </a:spcAft>
              <a:defRPr sz="2000"/>
            </a:pPr>
            <a:r>
              <a:t>Le GA demande davantage de paramétrage et plusieurs runs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Cartes et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 marchand ambulant — 8/10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Carte interactive Christofides</a:t>
            </a:r>
          </a:p>
          <a:p>
            <a:pPr>
              <a:spcAft>
                <a:spcPts val="1000"/>
              </a:spcAft>
              <a:defRPr sz="2000"/>
            </a:pPr>
            <a:r>
              <a:t>Carte interactive génétique</a:t>
            </a:r>
          </a:p>
          <a:p>
            <a:pPr>
              <a:spcAft>
                <a:spcPts val="1000"/>
              </a:spcAft>
              <a:defRPr sz="2000"/>
            </a:pPr>
            <a:r>
              <a:t>Courbe de convergence du GA</a:t>
            </a:r>
          </a:p>
          <a:p>
            <a:pPr>
              <a:spcAft>
                <a:spcPts val="1000"/>
              </a:spcAft>
              <a:defRPr sz="2000"/>
            </a:pPr>
            <a:r>
              <a:t>Benchmark de trois configurations</a:t>
            </a:r>
          </a:p>
        </p:txBody>
      </p:sp>
      <p:pic>
        <p:nvPicPr>
          <p:cNvPr id="5" name="Picture 4" descr="convergence_genet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0292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 marchand ambulant — 9/10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Données / modélisation</a:t>
            </a:r>
          </a:p>
          <a:p>
            <a:pPr>
              <a:spcAft>
                <a:spcPts val="1000"/>
              </a:spcAft>
              <a:defRPr sz="2000"/>
            </a:pPr>
            <a:r>
              <a:t>Christofides</a:t>
            </a:r>
          </a:p>
          <a:p>
            <a:pPr>
              <a:spcAft>
                <a:spcPts val="1000"/>
              </a:spcAft>
              <a:defRPr sz="2000"/>
            </a:pPr>
            <a:r>
              <a:t>Algorithme génétique</a:t>
            </a:r>
          </a:p>
          <a:p>
            <a:pPr>
              <a:spcAft>
                <a:spcPts val="1000"/>
              </a:spcAft>
              <a:defRPr sz="2000"/>
            </a:pPr>
            <a:r>
              <a:t>Benchmark / visualisation</a:t>
            </a:r>
          </a:p>
          <a:p>
            <a:pPr>
              <a:spcAft>
                <a:spcPts val="1000"/>
              </a:spcAft>
              <a:defRPr sz="2000"/>
            </a:pPr>
            <a:r>
              <a:t>Documentation / présentation</a:t>
            </a:r>
          </a:p>
          <a:p>
            <a:pPr>
              <a:spcAft>
                <a:spcPts val="1000"/>
              </a:spcAft>
              <a:defRPr sz="2000"/>
            </a:pPr>
            <a:r>
              <a:t>Voir TRELLO_ORGANISATION.md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 marchand ambulant — 10/10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Recommandation : GA si la priorité est la distance</a:t>
            </a:r>
          </a:p>
          <a:p>
            <a:pPr>
              <a:spcAft>
                <a:spcPts val="1000"/>
              </a:spcAft>
              <a:defRPr sz="2000"/>
            </a:pPr>
            <a:r>
              <a:t>Christofides si la priorité est la rapidité et la garantie théorique</a:t>
            </a:r>
          </a:p>
          <a:p>
            <a:pPr>
              <a:spcAft>
                <a:spcPts val="1000"/>
              </a:spcAft>
              <a:defRPr sz="2000"/>
            </a:pPr>
            <a:r>
              <a:t>3157,13 km = meilleure solution observée, pas preuve d'optimalité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